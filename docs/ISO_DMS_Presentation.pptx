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4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57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3200400" cy="32004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74320"/>
            <a:ext cx="2011680" cy="201168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22960"/>
            <a:ext cx="347472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HỆ THỐNG QUẢN LÝ TÀI LIỆU ISO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Document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 quản lý tài liệu chuẩn ISO 9001 · ISO 45001 · ISO 27001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nền tảng .NET 8 · Clean Architecture · Blazor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6DB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Năm học 2025–2026</a:t>
            </a:r>
            <a:endParaRPr lang="en-US" sz="11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1A90468-B906-D846-4E24-8DFC5D20863C}"/>
              </a:ext>
            </a:extLst>
          </p:cNvPr>
          <p:cNvSpPr/>
          <p:nvPr/>
        </p:nvSpPr>
        <p:spPr>
          <a:xfrm>
            <a:off x="5644662" y="1705356"/>
            <a:ext cx="347472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 err="1">
                <a:solidFill>
                  <a:srgbClr val="FFFFFF"/>
                </a:solidFill>
              </a:rPr>
              <a:t>Nhóm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sinh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viên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thực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hiện</a:t>
            </a:r>
            <a:endParaRPr lang="en-US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978FFA1-28C7-ECEE-1D8A-CE5B6D26BB1E}"/>
              </a:ext>
            </a:extLst>
          </p:cNvPr>
          <p:cNvSpPr/>
          <p:nvPr/>
        </p:nvSpPr>
        <p:spPr>
          <a:xfrm>
            <a:off x="5155809" y="2002535"/>
            <a:ext cx="3963573" cy="1728217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1822041903 -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1822040198-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1822040073 -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1822041823 -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1721031670 -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1721031693 -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Huỳnh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37160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VẤN ĐỀ THỰC TẾ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Doanh nghiệp quản lý tài liệu ISO thủ công bằng file/email dẫn đến: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Mất kiểm soát phiên bản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Không có workflow phê duyệt rõ ràng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Khó truy vết lịch sử thay đổi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37160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GIẢI PHÁP ĐỀ XUẤT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Xây dựng hệ thống web chuyên dụng: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Quản lý tài liệu &amp; version tập trung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Workflow phê duyệt đa cấp tự động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• Phân quyền RBAC &amp; Audit log ISO 27001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146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PHẠM VI:  Hệ thống nội bộ doanh nghiệp 50–500 người dùng  ·  Hỗ trợ ISO 9001, ISO 45001, ISO 27001  ·  Nền tảng .NET 8 + Blazor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201168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Quản lý tài liệu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98678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Upload, phân loại, lưu trữ tập trung với Azure Blob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31546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3154680"/>
            <a:ext cx="20116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46888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Quản lý phiên bản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398678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Versioning đầy đủ, so sánh và khôi phục bất kỳ version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5468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6344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Workflow phê duyệt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98678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Quy trình duyệt đa cấp linh hoạt theo loại tài liệu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31546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315468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5800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Bảo mật &amp; Audit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98678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RBAC, JWT, Audit log immutable chuẩn ISO 27001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– CLEAN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04 · WebAPI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CFF"/>
                </a:solidFill>
              </a:rPr>
              <a:t>Controllers · Middleware · Auth · Swagger · Health Check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409651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1051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03 ·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CFF"/>
                </a:solidFill>
              </a:rPr>
              <a:t>EF Core 8 · Azure Blob · Elasticsearch · Redis · JWT · Serilog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4352544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706624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02 ·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4169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CFF"/>
                </a:solidFill>
              </a:rPr>
              <a:t>CQRS + MediatR · Handlers · FluentValidation · AutoMapper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4608576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602736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01 · Domain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22776"/>
            <a:ext cx="4425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CFF"/>
                </a:solidFill>
              </a:rPr>
              <a:t>Entities · Value Objects · Domain Rules · Events · Interfaces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Dependency Rule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↑ chỉ hướng vào trong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CÔNG NGHỆ SỬ DỤNG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234440"/>
            <a:ext cx="3931920" cy="384048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34440"/>
            <a:ext cx="54864" cy="38404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.NET 8 / ASP.NET 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728216"/>
            <a:ext cx="3931920" cy="384048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728216"/>
            <a:ext cx="54864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065776" y="17282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Blazor Server (SignalR)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221992"/>
            <a:ext cx="3931920" cy="384048"/>
          </a:xfrm>
          <a:prstGeom prst="rect">
            <a:avLst/>
          </a:prstGeom>
          <a:solidFill>
            <a:srgbClr val="0D1B3E">
              <a:alpha val="12000"/>
            </a:srgbClr>
          </a:solidFill>
          <a:ln w="12700">
            <a:solidFill>
              <a:srgbClr val="0D1B3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221992"/>
            <a:ext cx="54864" cy="3840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5065776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SQL Server + EF Core 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715768"/>
            <a:ext cx="3931920" cy="384048"/>
          </a:xfrm>
          <a:prstGeom prst="rect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2715768"/>
            <a:ext cx="54864" cy="3840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Text 28"/>
          <p:cNvSpPr/>
          <p:nvPr/>
        </p:nvSpPr>
        <p:spPr>
          <a:xfrm>
            <a:off x="5065776" y="2715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Azure Blob Storage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209544"/>
            <a:ext cx="3931920" cy="384048"/>
          </a:xfrm>
          <a:prstGeom prst="rect">
            <a:avLst/>
          </a:prstGeom>
          <a:solidFill>
            <a:srgbClr val="F04E98">
              <a:alpha val="12000"/>
            </a:srgbClr>
          </a:solidFill>
          <a:ln w="12700">
            <a:solidFill>
              <a:srgbClr val="F04E98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209544"/>
            <a:ext cx="54864" cy="384048"/>
          </a:xfrm>
          <a:prstGeom prst="rect">
            <a:avLst/>
          </a:prstGeom>
          <a:solidFill>
            <a:srgbClr val="F04E98"/>
          </a:solidFill>
          <a:ln/>
        </p:spPr>
      </p:sp>
      <p:sp>
        <p:nvSpPr>
          <p:cNvPr id="33" name="Text 31"/>
          <p:cNvSpPr/>
          <p:nvPr/>
        </p:nvSpPr>
        <p:spPr>
          <a:xfrm>
            <a:off x="5065776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Elasticsearch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703320"/>
            <a:ext cx="3931920" cy="384048"/>
          </a:xfrm>
          <a:prstGeom prst="rect">
            <a:avLst/>
          </a:prstGeom>
          <a:solidFill>
            <a:srgbClr val="DC382D">
              <a:alpha val="12000"/>
            </a:srgbClr>
          </a:solidFill>
          <a:ln w="12700">
            <a:solidFill>
              <a:srgbClr val="DC382D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3703320"/>
            <a:ext cx="54864" cy="384048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6" name="Text 34"/>
          <p:cNvSpPr/>
          <p:nvPr/>
        </p:nvSpPr>
        <p:spPr>
          <a:xfrm>
            <a:off x="5065776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Redis Cache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AF4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Dependency rule: tầng trong không phụ thuộc tầng ngoài  ·  Inversion of Control qua Dependency Injection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CHÍNH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Quản lý tài liệu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Upload PDF/DOCX/XLSX lên Azure Blob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6824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Phân loại theo ISO (9001/45001/27001)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Mã hóa tài liệu: QMS-PR-001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Soft delete &amp; restore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914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Quản lý phiên bản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13533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Versioning: 1.0 → 1.1 → 2.0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16824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Lịch sử đầy đủ, không ghi đè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0116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Checksum SHA-256 kiểm tra toàn vẹn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Tải về bất kỳ version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914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Workflow phê duyệt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36208" y="13533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State machine: Draft→Review→Published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16824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Đa cấp phê duyệt linh hoạt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20116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Thông báo Email + SignalR realtime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Reject với ghi chú &amp; vòng lặp lại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436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44368"/>
            <a:ext cx="274320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2944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Phân quyền RBAC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84048" y="33832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Roles: SystemAdmin / ISOManager / Approver / Controller / Viewer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" y="37124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Permission-based policy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40416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JWT Bearer + Refresh Token Rotation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4370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Lockout sau đăng nhập sai nhiều lần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294436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2944368"/>
            <a:ext cx="27432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2944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Tìm kiếm &amp; tra cứu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310128" y="33832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Full-text search với Elasticsearch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10128" y="37124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Lọc theo ISO, trạng thái, phòng ban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40416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Autocomplete gợi ý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0128" y="4370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Advanced filter phức hợp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294436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944368"/>
            <a:ext cx="274320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83680" y="2944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 Log &amp; Báo cáo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36208" y="33832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Immutable audit trail (ISO 27001)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36208" y="37124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Ghi lại mọi thao tác (IP, User Agent)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36208" y="40416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Báo cáo tuân thủ theo tiêu chuẩn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36208" y="4370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Dashboard KPI thời gian thực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CHỨC NĂNG HỆ THỐNG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914400"/>
            <a:ext cx="27432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ISO DMS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0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444752"/>
            <a:ext cx="0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44752"/>
            <a:ext cx="45720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444752"/>
            <a:ext cx="1783080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444752"/>
            <a:ext cx="3520440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1444752"/>
            <a:ext cx="0" cy="429768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444752"/>
            <a:ext cx="0" cy="429768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44752"/>
            <a:ext cx="0" cy="429768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44752"/>
            <a:ext cx="0" cy="429768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44752"/>
            <a:ext cx="0" cy="429768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874520"/>
            <a:ext cx="192024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Tài liệu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2331720"/>
            <a:ext cx="0" cy="749808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41448"/>
            <a:ext cx="1737360" cy="347472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Upload/Download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2331720"/>
            <a:ext cx="0" cy="1170432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62072"/>
            <a:ext cx="1737360" cy="347472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Phân loại ISO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43000" y="2331720"/>
            <a:ext cx="0" cy="1591056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82696"/>
            <a:ext cx="1737360" cy="347472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82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Mã tài liệu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20240" y="1874520"/>
            <a:ext cx="19202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20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Phiên bản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2331720"/>
            <a:ext cx="0" cy="749808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2441448"/>
            <a:ext cx="1737360" cy="34747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Lịch sử version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80360" y="2331720"/>
            <a:ext cx="0" cy="1170432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0" y="2862072"/>
            <a:ext cx="1737360" cy="34747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So sánh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80360" y="2331720"/>
            <a:ext cx="0" cy="1591056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3282696"/>
            <a:ext cx="1737360" cy="34747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282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Checksum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0" y="1874520"/>
            <a:ext cx="1920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Phê duyệt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17720" y="2331720"/>
            <a:ext cx="0" cy="749808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0" y="2441448"/>
            <a:ext cx="173736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Submit/Approve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2331720"/>
            <a:ext cx="0" cy="1170432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49040" y="2862072"/>
            <a:ext cx="173736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Reject + note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2331720"/>
            <a:ext cx="0" cy="1591056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3282696"/>
            <a:ext cx="173736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282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Thông báo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94960" y="1874520"/>
            <a:ext cx="19202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3949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Phân quyền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55080" y="2331720"/>
            <a:ext cx="0" cy="749808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2441448"/>
            <a:ext cx="1737360" cy="347472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RBAC roles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55080" y="2331720"/>
            <a:ext cx="0" cy="1170432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0" y="2862072"/>
            <a:ext cx="1737360" cy="347472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JWT Auth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55080" y="2331720"/>
            <a:ext cx="0" cy="1591056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0" y="3282696"/>
            <a:ext cx="1737360" cy="347472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0" y="3282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Permissions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132320" y="1874520"/>
            <a:ext cx="1920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1323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Tìm kiếm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092440" y="2331720"/>
            <a:ext cx="0" cy="749808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23760" y="2441448"/>
            <a:ext cx="1737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Full-text 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092440" y="2331720"/>
            <a:ext cx="0" cy="1170432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23760" y="2862072"/>
            <a:ext cx="1737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2376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Filter nâng cao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092440" y="2331720"/>
            <a:ext cx="0" cy="1591056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23760" y="3282696"/>
            <a:ext cx="1737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3282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Autocomplete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572000" y="1444752"/>
            <a:ext cx="0" cy="27432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PHÊ DUYỆT TÀI LIỆU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1188720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DRAFT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548640" cy="0"/>
          </a:xfrm>
          <a:prstGeom prst="line">
            <a:avLst/>
          </a:prstGeom>
          <a:noFill/>
          <a:ln w="25400">
            <a:solidFill>
              <a:srgbClr val="E2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463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554480" cy="118872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14813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6DB"/>
                </a:solidFill>
              </a:rPr>
              <a:t>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6DB"/>
                </a:solidFill>
              </a:rPr>
              <a:t>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600200"/>
            <a:ext cx="548640" cy="0"/>
          </a:xfrm>
          <a:prstGeom prst="line">
            <a:avLst/>
          </a:prstGeom>
          <a:noFill/>
          <a:ln w="25400">
            <a:solidFill>
              <a:srgbClr val="E2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463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005840"/>
            <a:ext cx="1554480" cy="11887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14813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PENDING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FINAL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600200"/>
            <a:ext cx="548640" cy="0"/>
          </a:xfrm>
          <a:prstGeom prst="line">
            <a:avLst/>
          </a:prstGeom>
          <a:noFill/>
          <a:ln w="25400">
            <a:solidFill>
              <a:srgbClr val="E2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463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1554480" cy="1188720"/>
          </a:xfrm>
          <a:prstGeom prst="rect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14813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1600200"/>
            <a:ext cx="548640" cy="0"/>
          </a:xfrm>
          <a:prstGeom prst="line">
            <a:avLst/>
          </a:prstGeom>
          <a:noFill/>
          <a:ln w="25400">
            <a:solidFill>
              <a:srgbClr val="E2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463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005840"/>
            <a:ext cx="1554480" cy="118872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89520" y="14813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ARCHIVED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6DB"/>
                </a:solidFill>
              </a:rPr>
              <a:t>Submit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118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6DB"/>
                </a:solidFill>
              </a:rPr>
              <a:t>Approve Lv1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406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6DB"/>
                </a:solidFill>
              </a:rPr>
              <a:t>Approve Lv2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694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6DB"/>
                </a:solidFill>
              </a:rPr>
              <a:t>Obsolete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03120" y="2423160"/>
            <a:ext cx="18288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92024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</a:rPr>
              <a:t>Reject + ghi chú 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834640"/>
            <a:ext cx="27432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</a:rPr>
              <a:t>Controller (Người lập)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3291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Tạo tài liệu Draft, upload file, điền metadata, submit để bắt đầu workflow phê duyệt.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28346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283464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Approver Lv1 (Trưởng phòng)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37560" y="3291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Xem xét nội dung, approve hoặc reject kèm comment. Nếu reject → tài liệu về Draft.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8346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8346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Approver Lv2 (ISO Manager)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3291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Phê duyệt cuối cùng, publish tài liệu chính thức hoặc từ chối toàn quy trình.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&amp; REST API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CÁC BẢNG CHÍNH (SQL Server)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438912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54864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2618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Users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76272" y="12618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Người dùng + ASP.NET Identity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3931920" cy="438912"/>
          </a:xfrm>
          <a:prstGeom prst="rect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73936"/>
            <a:ext cx="54864" cy="4389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7739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Documents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76272" y="1773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Metadata tài liệu ISO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3931920" cy="43891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2860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DocumentVersions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76272" y="22860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Lịch sử phiên bản + Blob path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3931920" cy="438912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98064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27980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ApprovalWorkflows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76272" y="27980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State machine phê duyệt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3931920" cy="438912"/>
          </a:xfrm>
          <a:prstGeom prst="rect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10128"/>
            <a:ext cx="54864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310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ApprovalSteps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76272" y="33101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 tiết từng bước duyệt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22192"/>
            <a:ext cx="3931920" cy="438912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22192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Roles / Permissions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76272" y="3822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RBAC – phân quyền chi tiết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334256"/>
            <a:ext cx="3931920" cy="438912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334256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43342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AuditLogs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76272" y="4334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Immutable trail (ISO 27001)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914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REST API ENDPOINTS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1261872"/>
            <a:ext cx="621792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126187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1261872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66944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87184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Controller+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1682496"/>
            <a:ext cx="621792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168249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12080" y="1682496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6944" y="1682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87184" y="1682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Viewer+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2103120"/>
            <a:ext cx="621792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210312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12080" y="2103120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66944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/api/v1/documents/{id}/download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187184" y="21031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Viewer+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0" y="2523744"/>
            <a:ext cx="621792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25237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212080" y="2523744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66944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/api/v1/documents/{id}/versions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87184" y="25237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Controller+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944368"/>
            <a:ext cx="621792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0" y="29443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212080" y="2944368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6944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/api/v1/documents/{id}/submit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87184" y="29443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Controller+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0" y="3364992"/>
            <a:ext cx="621792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0" y="336499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212080" y="3364992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66944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/api/v1/workflows/{id}/approve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187184" y="33649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Approver+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0" y="3785616"/>
            <a:ext cx="62179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0" y="378561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212080" y="3785616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66944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/api/v1/workflows/{id}/reject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187184" y="37856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Approver+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0" y="4206240"/>
            <a:ext cx="621792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0" y="420624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12080" y="4206240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66944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/api/v1/search?q=&amp;iso=&amp;status=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187184" y="4206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Viewer+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0" y="4626864"/>
            <a:ext cx="62179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0" y="462686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DELETE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212080" y="4626864"/>
            <a:ext cx="2743200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66944" y="4626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187184" y="46268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ISOManager+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NGƯỜI DÙNG – BLAZOR 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3E"/>
                </a:solidFill>
              </a:rPr>
              <a:t>Lý do chọn Blazor Server: Latency thấp (intranet), SignalR realtime, không cần compile WASM, phù hợp 50–500 users nội bộ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13969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KPI tài liệu theo ISO, danh sách cần duyệt, recent documents, biểu đồ tình trạng.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8132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572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Danh sách tài liệu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13969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DataGrid lọc nâng cao, sắp xếp, phân trang. Badge trạng thái màu sắc.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8132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⬆️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1572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Upload tài liệu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213969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Wizard nhiều bước: chọn file → metadata → submit. Validate realtime.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7296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264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264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Xem chi tiết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" y="383133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PDF viewer inline (PSPDFKit), lịch sử version, timeline phê duyệt.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17296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264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49040" y="3264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Hàng đợi phê duyệt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10128" y="383133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Approver xem danh sách chờ duyệt, dialog xác nhận với comment.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172968"/>
            <a:ext cx="274320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264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3264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Quản trị hệ thống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383133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Quản lý user, gán role, xem audit log, báo cáo tuân thủ ISO.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TRIỂN KHAI – 8 SPRINTS / 16 TUẦN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146304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192024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96012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96012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1-2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Setup solution, DB migration, Identity + JWT, Role seeding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146304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960120"/>
            <a:ext cx="1920240" cy="4389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96012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96012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3-4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87168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Document CRUD API + Azure Blob, EF Core repositories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28816" y="146304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960120"/>
            <a:ext cx="192024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96012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97296" y="96012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5-6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0016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Approval workflow state machine + Notifications (Email/SignalR)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21424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21424" y="960120"/>
            <a:ext cx="1920240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821424" y="96012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10144" y="96012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7-8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12864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Elasticsearch full-text search + Advanced search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338328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8803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880360"/>
            <a:ext cx="192024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288036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9-10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Blazor UI: Dashboard, Document List, Upload wizard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15968" y="338328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95728" y="28803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95728" y="2880360"/>
            <a:ext cx="1920240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2395728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84448" y="288036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11-12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87168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Blazor UI: Approval queue, Admin pages, PDF viewer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28816" y="3383280"/>
            <a:ext cx="292608" cy="0"/>
          </a:xfrm>
          <a:prstGeom prst="line">
            <a:avLst/>
          </a:prstGeom>
          <a:noFill/>
          <a:ln w="19050">
            <a:solidFill>
              <a:srgbClr val="E2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28803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2880360"/>
            <a:ext cx="192024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4608576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797296" y="288036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13-14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0016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Audit log UI, Reports ISO, Testing &amp; Performance tuning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21424" y="28803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21424" y="2880360"/>
            <a:ext cx="192024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8" name="Text 46"/>
          <p:cNvSpPr/>
          <p:nvPr/>
        </p:nvSpPr>
        <p:spPr>
          <a:xfrm>
            <a:off x="6821424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10144" y="2880360"/>
            <a:ext cx="731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Tuần 15-16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12864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UAT, Security review (ISO 27001 checklist), Go-live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A8C5F0"/>
                </a:solidFill>
              </a:rPr>
              <a:t>KẾT LUẬN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ISO Document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đã xây dựng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FF"/>
                </a:solidFill>
              </a:rPr>
              <a:t>✅  Quản lý tài liệu tập trung theo 3 chuẩn ISO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0" y="2514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E8C8"/>
                </a:solidFill>
              </a:rPr>
              <a:t>✅  Workflow phê duyệt đa cấp tự động với thông báo realtime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FF"/>
                </a:solidFill>
              </a:rPr>
              <a:t>✅  Phân quyền RBAC + JWT bảo mật chuẩn doanh nghiệp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E8C8"/>
                </a:solidFill>
              </a:rPr>
              <a:t>✅  Tìm kiếm full-text với Elasticsearch tốc độ cao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FF"/>
                </a:solidFill>
              </a:rPr>
              <a:t>✅  Audit log immutable đáp ứng yêu cầu ISO 27001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3520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E8C8"/>
                </a:solidFill>
              </a:rPr>
              <a:t>✅  Kiến trúc Clean Architecture dễ mở rộng &amp; bảo trì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Cảm ơn quý thầy/cô đã lắng nghe! 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1292</Words>
  <Application>Microsoft Office PowerPoint</Application>
  <PresentationFormat>On-screen Show (16:9)</PresentationFormat>
  <Paragraphs>253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Documents Management System</dc:title>
  <dc:subject>PptxGenJS Presentation</dc:subject>
  <dc:creator>PptxGenJS</dc:creator>
  <cp:lastModifiedBy>Tien Minh</cp:lastModifiedBy>
  <cp:revision>2</cp:revision>
  <dcterms:created xsi:type="dcterms:W3CDTF">2026-04-22T06:50:10Z</dcterms:created>
  <dcterms:modified xsi:type="dcterms:W3CDTF">2026-04-22T07:01:01Z</dcterms:modified>
</cp:coreProperties>
</file>